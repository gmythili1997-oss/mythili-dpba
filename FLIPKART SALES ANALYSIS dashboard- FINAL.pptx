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6" r:id="rId15"/>
    <p:sldId id="269" r:id="rId16"/>
    <p:sldId id="270" r:id="rId17"/>
    <p:sldId id="275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1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869C6FC-6876-49BD-B957-27F3FB44715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769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072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464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165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625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128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052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873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584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173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213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199201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359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2360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751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537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661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69C6FC-6876-49BD-B957-27F3FB44715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6849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111167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FLIPKART SALES ANALYSIS 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                                                                                   </a:t>
            </a:r>
            <a:r>
              <a:rPr lang="en-US" dirty="0">
                <a:solidFill>
                  <a:schemeClr val="bg1"/>
                </a:solidFill>
              </a:rPr>
              <a:t>       -</a:t>
            </a:r>
            <a:r>
              <a:rPr lang="en-US" dirty="0">
                <a:solidFill>
                  <a:schemeClr val="bg1"/>
                </a:solidFill>
                <a:latin typeface="Bodoni Bk BT" panose="02070603070706020303" pitchFamily="18" charset="0"/>
              </a:rPr>
              <a:t>By </a:t>
            </a:r>
            <a:r>
              <a:rPr lang="en-US" dirty="0" err="1">
                <a:solidFill>
                  <a:schemeClr val="bg1"/>
                </a:solidFill>
                <a:latin typeface="Bodoni Bk BT" panose="02070603070706020303" pitchFamily="18" charset="0"/>
              </a:rPr>
              <a:t>Mythili</a:t>
            </a:r>
            <a:r>
              <a:rPr lang="en-US" dirty="0">
                <a:solidFill>
                  <a:schemeClr val="bg1"/>
                </a:solidFill>
                <a:latin typeface="Bodoni Bk BT" panose="02070603070706020303" pitchFamily="18" charset="0"/>
              </a:rPr>
              <a:t> G</a:t>
            </a:r>
            <a:endParaRPr lang="en-IN" dirty="0">
              <a:solidFill>
                <a:schemeClr val="bg1"/>
              </a:solidFill>
              <a:latin typeface="Bodoni Bk BT" panose="02070603070706020303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668" y="908603"/>
            <a:ext cx="3547027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986310"/>
      </p:ext>
    </p:extLst>
  </p:cSld>
  <p:clrMapOvr>
    <a:masterClrMapping/>
  </p:clrMapOvr>
  <p:transition spd="slow">
    <p:comb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INTRODUCTION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828800"/>
            <a:ext cx="9905999" cy="4329239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In today’s digital era, e-commerce platforms generate a huge volume of sales data every day. Analyzing this data is essential for understanding customer behavior, sales performance, and business growth. </a:t>
            </a:r>
          </a:p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Flipkart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, one of India’s leading e-commerce companies, handles millions of transactions across various product categories, regions, and customer segments.</a:t>
            </a:r>
          </a:p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The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Flipkart Sales Analysis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 project focuses on analyzing sales data using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Microsoft Power BI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, a powerful business intelligence and data visualization tool.</a:t>
            </a:r>
          </a:p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The main objective of this project is to transform raw sales data into meaningful insights through interactive dashboards and reports. </a:t>
            </a:r>
          </a:p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By visualizing key metrics such as total sales, revenue trends, top-selling products, category-wise performance, and regional sales distribution, stakeholders can make informed business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3413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PROBLEM STATEMENT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Flipkart generates a large volume of sales data that is difficult to analyze in raw format.</a:t>
            </a:r>
          </a:p>
          <a:p>
            <a:r>
              <a:rPr lang="en-US" dirty="0">
                <a:solidFill>
                  <a:schemeClr val="bg1"/>
                </a:solidFill>
              </a:rPr>
              <a:t>Lack of clear visualization makes it hard to identify sales trends, top products, and regional performance.</a:t>
            </a:r>
          </a:p>
          <a:p>
            <a:r>
              <a:rPr lang="en-US" dirty="0">
                <a:solidFill>
                  <a:schemeClr val="bg1"/>
                </a:solidFill>
              </a:rPr>
              <a:t>This project uses </a:t>
            </a:r>
            <a:r>
              <a:rPr lang="en-US" b="1" dirty="0">
                <a:solidFill>
                  <a:schemeClr val="bg1"/>
                </a:solidFill>
              </a:rPr>
              <a:t>Power BI</a:t>
            </a:r>
            <a:r>
              <a:rPr lang="en-US" dirty="0">
                <a:solidFill>
                  <a:schemeClr val="bg1"/>
                </a:solidFill>
              </a:rPr>
              <a:t> to transform raw data into interactive dashboards for easy analysis and better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18205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Business problem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1.How does revenue vary by product category?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2.How does revenue vary by brand?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3.What is the monthly sales trend based on </a:t>
            </a:r>
            <a:r>
              <a:rPr lang="en-IN" dirty="0" err="1">
                <a:solidFill>
                  <a:schemeClr val="bg1"/>
                </a:solidFill>
              </a:rPr>
              <a:t>listing_date</a:t>
            </a:r>
            <a:r>
              <a:rPr lang="en-IN" dirty="0">
                <a:solidFill>
                  <a:schemeClr val="bg1"/>
                </a:solidFill>
              </a:rPr>
              <a:t>?</a:t>
            </a: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4.Which products are the top 10 revenue contributors?</a:t>
            </a: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5.Which sellers generate the highest revenue?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6.Which </a:t>
            </a:r>
            <a:r>
              <a:rPr lang="en-IN" dirty="0" err="1">
                <a:solidFill>
                  <a:schemeClr val="bg1"/>
                </a:solidFill>
              </a:rPr>
              <a:t>seller_city</a:t>
            </a:r>
            <a:r>
              <a:rPr lang="en-IN" dirty="0">
                <a:solidFill>
                  <a:schemeClr val="bg1"/>
                </a:solidFill>
              </a:rPr>
              <a:t> contributes the most to total sales?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849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Data overview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Product id</a:t>
            </a:r>
          </a:p>
          <a:p>
            <a:r>
              <a:rPr lang="en-US" dirty="0">
                <a:solidFill>
                  <a:schemeClr val="bg1"/>
                </a:solidFill>
              </a:rPr>
              <a:t>Product name</a:t>
            </a:r>
          </a:p>
          <a:p>
            <a:r>
              <a:rPr lang="en-US" dirty="0">
                <a:solidFill>
                  <a:schemeClr val="bg1"/>
                </a:solidFill>
              </a:rPr>
              <a:t>Category</a:t>
            </a:r>
          </a:p>
          <a:p>
            <a:r>
              <a:rPr lang="en-US" dirty="0">
                <a:solidFill>
                  <a:schemeClr val="bg1"/>
                </a:solidFill>
              </a:rPr>
              <a:t>Brand</a:t>
            </a:r>
          </a:p>
          <a:p>
            <a:r>
              <a:rPr lang="en-US" dirty="0">
                <a:solidFill>
                  <a:schemeClr val="bg1"/>
                </a:solidFill>
              </a:rPr>
              <a:t>Seller</a:t>
            </a:r>
          </a:p>
          <a:p>
            <a:r>
              <a:rPr lang="en-US" dirty="0">
                <a:solidFill>
                  <a:schemeClr val="bg1"/>
                </a:solidFill>
              </a:rPr>
              <a:t>Seller city</a:t>
            </a:r>
          </a:p>
          <a:p>
            <a:r>
              <a:rPr lang="en-US" dirty="0">
                <a:solidFill>
                  <a:schemeClr val="bg1"/>
                </a:solidFill>
              </a:rPr>
              <a:t>price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564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091012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Technology used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709530"/>
            <a:ext cx="9905999" cy="4081671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7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Source</a:t>
            </a:r>
          </a:p>
          <a:p>
            <a:r>
              <a:rPr lang="en-US" sz="7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Flipkart Sales Dataset collected in </a:t>
            </a:r>
            <a:r>
              <a:rPr lang="en-US" sz="7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 format</a:t>
            </a:r>
            <a:r>
              <a:rPr lang="en-US" sz="7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containing sales and order details.</a:t>
            </a:r>
          </a:p>
          <a:p>
            <a:pPr marL="0" indent="0">
              <a:buNone/>
            </a:pPr>
            <a:r>
              <a:rPr lang="en-US" sz="7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&amp; Transformation (ETL)</a:t>
            </a:r>
          </a:p>
          <a:p>
            <a:r>
              <a:rPr lang="en-US" sz="7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Query</a:t>
            </a:r>
            <a:r>
              <a:rPr lang="en-US" sz="7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used to clean, transform, and organize the raw sales data.</a:t>
            </a:r>
          </a:p>
          <a:p>
            <a:r>
              <a:rPr lang="en-US" sz="7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Modeling</a:t>
            </a:r>
            <a:r>
              <a:rPr lang="en-US" sz="7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involves creating tables such as </a:t>
            </a:r>
            <a:r>
              <a:rPr lang="en-US" sz="7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Calendar, Product, Category, and City</a:t>
            </a:r>
            <a:r>
              <a:rPr lang="en-US" sz="7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establishing proper relationships between them.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81016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Technology used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789043"/>
            <a:ext cx="9905999" cy="400215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b="1" dirty="0">
                <a:solidFill>
                  <a:schemeClr val="bg2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Data Analysis &amp; Visualization</a:t>
            </a:r>
          </a:p>
          <a:p>
            <a:r>
              <a:rPr lang="en-US" sz="8000" dirty="0">
                <a:solidFill>
                  <a:schemeClr val="bg1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Power BI is used for analyzing sales performance.</a:t>
            </a:r>
          </a:p>
          <a:p>
            <a:r>
              <a:rPr lang="en-US" sz="8000" dirty="0">
                <a:solidFill>
                  <a:schemeClr val="bg1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Various visualizations are created, including Pie chart, Tree Map, Filled Map, Line chart, Funnel chart .</a:t>
            </a:r>
          </a:p>
          <a:p>
            <a:r>
              <a:rPr lang="en-US" sz="8000" dirty="0">
                <a:solidFill>
                  <a:schemeClr val="bg1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DAX measures are used to calculate key metrics such as total sales, revenue, and growth trends.</a:t>
            </a:r>
          </a:p>
          <a:p>
            <a:pPr marL="0" indent="0">
              <a:buNone/>
            </a:pPr>
            <a:r>
              <a:rPr lang="en-US" sz="8000" b="1" dirty="0">
                <a:solidFill>
                  <a:schemeClr val="bg2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Data Insights &amp; Reporting</a:t>
            </a:r>
          </a:p>
          <a:p>
            <a:r>
              <a:rPr lang="en-US" sz="8000" dirty="0">
                <a:solidFill>
                  <a:schemeClr val="bg1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An interactive Power BI Dashboard is developed to present clear insights for decision-makers.</a:t>
            </a:r>
          </a:p>
          <a:p>
            <a:r>
              <a:rPr lang="en-US" sz="8000" dirty="0">
                <a:solidFill>
                  <a:schemeClr val="bg1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Filters and Slicers are applied to analyze sales by category, product, city, month, and payment method</a:t>
            </a:r>
            <a:r>
              <a:rPr lang="en-US" sz="4800" dirty="0">
                <a:solidFill>
                  <a:schemeClr val="bg1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315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Data  preprocessing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Imported Flipkart sales data from </a:t>
            </a:r>
            <a:r>
              <a:rPr lang="en-US" b="1" dirty="0">
                <a:solidFill>
                  <a:schemeClr val="bg1"/>
                </a:solidFill>
              </a:rPr>
              <a:t>Excel</a:t>
            </a:r>
            <a:r>
              <a:rPr lang="en-US" dirty="0">
                <a:solidFill>
                  <a:schemeClr val="bg1"/>
                </a:solidFill>
              </a:rPr>
              <a:t> into Power BI.</a:t>
            </a:r>
          </a:p>
          <a:p>
            <a:r>
              <a:rPr lang="en-US" dirty="0">
                <a:solidFill>
                  <a:schemeClr val="bg1"/>
                </a:solidFill>
              </a:rPr>
              <a:t>Verified column structure and corrected data types (Date, Text, Number).</a:t>
            </a:r>
          </a:p>
          <a:p>
            <a:r>
              <a:rPr lang="en-US" dirty="0">
                <a:solidFill>
                  <a:schemeClr val="bg1"/>
                </a:solidFill>
              </a:rPr>
              <a:t>Created new fields such as </a:t>
            </a:r>
            <a:r>
              <a:rPr lang="en-US" b="1" dirty="0">
                <a:solidFill>
                  <a:schemeClr val="bg1"/>
                </a:solidFill>
              </a:rPr>
              <a:t>Month, Year, and Quarter</a:t>
            </a:r>
            <a:r>
              <a:rPr lang="en-US" dirty="0">
                <a:solidFill>
                  <a:schemeClr val="bg1"/>
                </a:solidFill>
              </a:rPr>
              <a:t> from the order date.</a:t>
            </a:r>
          </a:p>
          <a:p>
            <a:r>
              <a:rPr lang="en-US" dirty="0">
                <a:solidFill>
                  <a:schemeClr val="bg1"/>
                </a:solidFill>
              </a:rPr>
              <a:t>Prepared supporting tables like </a:t>
            </a:r>
            <a:r>
              <a:rPr lang="en-US" b="1" dirty="0">
                <a:solidFill>
                  <a:schemeClr val="bg1"/>
                </a:solidFill>
              </a:rPr>
              <a:t>Calendar, Product, Category, and City</a:t>
            </a:r>
          </a:p>
          <a:p>
            <a:r>
              <a:rPr lang="en-US" dirty="0">
                <a:solidFill>
                  <a:schemeClr val="bg1"/>
                </a:solidFill>
              </a:rPr>
              <a:t>Established relationships between fact and dimension tables for analysis.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661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Data cleaning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Identified and handled </a:t>
            </a:r>
            <a:r>
              <a:rPr lang="en-US" b="1" dirty="0">
                <a:solidFill>
                  <a:schemeClr val="bg1"/>
                </a:solidFill>
              </a:rPr>
              <a:t>missing or blank values</a:t>
            </a:r>
            <a:r>
              <a:rPr lang="en-US" dirty="0">
                <a:solidFill>
                  <a:schemeClr val="bg1"/>
                </a:solidFill>
              </a:rPr>
              <a:t> in key columns.</a:t>
            </a:r>
          </a:p>
          <a:p>
            <a:r>
              <a:rPr lang="en-US" dirty="0">
                <a:solidFill>
                  <a:schemeClr val="bg1"/>
                </a:solidFill>
              </a:rPr>
              <a:t>Removed </a:t>
            </a:r>
            <a:r>
              <a:rPr lang="en-US" b="1" dirty="0">
                <a:solidFill>
                  <a:schemeClr val="bg1"/>
                </a:solidFill>
              </a:rPr>
              <a:t>duplicate records</a:t>
            </a:r>
            <a:r>
              <a:rPr lang="en-US" dirty="0">
                <a:solidFill>
                  <a:schemeClr val="bg1"/>
                </a:solidFill>
              </a:rPr>
              <a:t> to ensure accurate sales calculations.</a:t>
            </a:r>
          </a:p>
          <a:p>
            <a:r>
              <a:rPr lang="en-US" dirty="0">
                <a:solidFill>
                  <a:schemeClr val="bg1"/>
                </a:solidFill>
              </a:rPr>
              <a:t>Renamed columns for clarity and consistency.</a:t>
            </a:r>
          </a:p>
          <a:p>
            <a:r>
              <a:rPr lang="en-US" dirty="0">
                <a:solidFill>
                  <a:schemeClr val="bg1"/>
                </a:solidFill>
              </a:rPr>
              <a:t>Standardized category and city names to avoid mismatch.</a:t>
            </a:r>
          </a:p>
          <a:p>
            <a:r>
              <a:rPr lang="en-US" dirty="0">
                <a:solidFill>
                  <a:schemeClr val="bg1"/>
                </a:solidFill>
              </a:rPr>
              <a:t>Removed unnecessary or irrelevant columns.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521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4309" y="157161"/>
            <a:ext cx="9905998" cy="854232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Key metrics and </a:t>
            </a:r>
            <a:r>
              <a:rPr lang="en-IN" b="1" dirty="0" err="1">
                <a:solidFill>
                  <a:srgbClr val="002060"/>
                </a:solidFill>
              </a:rPr>
              <a:t>kPI</a:t>
            </a:r>
            <a:r>
              <a:rPr lang="en-IN" b="1" dirty="0">
                <a:solidFill>
                  <a:srgbClr val="002060"/>
                </a:solidFill>
              </a:rPr>
              <a:t>’ s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6608" y="1521302"/>
            <a:ext cx="3147367" cy="3560496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IN" dirty="0">
                <a:solidFill>
                  <a:schemeClr val="bg1"/>
                </a:solidFill>
              </a:rPr>
              <a:t>Total Discount Given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Average Discount %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Total Reviews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Top Selling Category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Top Units sold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Average Delivery Time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Average Shipping Weight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Top Seller by Revenue.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4FE223-E225-43C1-BFE6-1192CE7C7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308" y="1440383"/>
            <a:ext cx="4086478" cy="453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470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Data modeling overview</a:t>
            </a:r>
            <a:endParaRPr lang="en-IN" dirty="0">
              <a:solidFill>
                <a:srgbClr val="002060"/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92297DD-8D6B-44CA-9C71-E6BA1D07C7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313" y="1707419"/>
            <a:ext cx="9905998" cy="4532063"/>
          </a:xfrm>
        </p:spPr>
      </p:pic>
    </p:spTree>
    <p:extLst>
      <p:ext uri="{BB962C8B-B14F-4D97-AF65-F5344CB8AC3E}">
        <p14:creationId xmlns:p14="http://schemas.microsoft.com/office/powerpoint/2010/main" val="41071822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2060"/>
                </a:solidFill>
              </a:rPr>
              <a:t>Dax</a:t>
            </a:r>
            <a:r>
              <a:rPr lang="en-US" dirty="0">
                <a:solidFill>
                  <a:srgbClr val="002060"/>
                </a:solidFill>
              </a:rPr>
              <a:t> measures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DAX (Data Analysis Expressions)</a:t>
            </a:r>
            <a:r>
              <a:rPr lang="en-US" dirty="0">
                <a:solidFill>
                  <a:schemeClr val="bg1"/>
                </a:solidFill>
              </a:rPr>
              <a:t> measures are </a:t>
            </a:r>
            <a:r>
              <a:rPr lang="en-US" b="1" dirty="0">
                <a:solidFill>
                  <a:schemeClr val="bg1"/>
                </a:solidFill>
              </a:rPr>
              <a:t>formulas used in Power BI</a:t>
            </a:r>
            <a:r>
              <a:rPr lang="en-US" dirty="0">
                <a:solidFill>
                  <a:schemeClr val="bg1"/>
                </a:solidFill>
              </a:rPr>
              <a:t> to calculate values like </a:t>
            </a:r>
            <a:r>
              <a:rPr lang="en-US" b="1" dirty="0">
                <a:solidFill>
                  <a:schemeClr val="bg1"/>
                </a:solidFill>
              </a:rPr>
              <a:t>Total Sales, Total Orders, Average, Growth</a:t>
            </a:r>
            <a:r>
              <a:rPr lang="en-US" dirty="0">
                <a:solidFill>
                  <a:schemeClr val="bg1"/>
                </a:solidFill>
              </a:rPr>
              <a:t>, etc.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2060"/>
                </a:solidFill>
              </a:rPr>
              <a:t>MEASURES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Total Discount Given = SUM(price − </a:t>
            </a:r>
            <a:r>
              <a:rPr lang="en-IN" dirty="0" err="1">
                <a:solidFill>
                  <a:schemeClr val="bg1"/>
                </a:solidFill>
              </a:rPr>
              <a:t>final_price</a:t>
            </a:r>
            <a:r>
              <a:rPr lang="en-IN" dirty="0">
                <a:solidFill>
                  <a:schemeClr val="bg1"/>
                </a:solidFill>
              </a:rPr>
              <a:t>)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Total Reviews = SUM(</a:t>
            </a:r>
            <a:r>
              <a:rPr lang="en-IN" dirty="0" err="1">
                <a:solidFill>
                  <a:schemeClr val="bg1"/>
                </a:solidFill>
              </a:rPr>
              <a:t>review_count</a:t>
            </a:r>
            <a:r>
              <a:rPr lang="en-IN" dirty="0">
                <a:solidFill>
                  <a:schemeClr val="bg1"/>
                </a:solidFill>
              </a:rPr>
              <a:t>)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Top Selling Category (by Revenue)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8473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323681"/>
            <a:ext cx="9905998" cy="1076241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Power bi dash board overview</a:t>
            </a:r>
            <a:endParaRPr lang="en-IN" dirty="0">
              <a:solidFill>
                <a:srgbClr val="002060"/>
              </a:solidFill>
            </a:endParaRP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087B5C96-1C3C-4DE1-B9E0-E27B4BF302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847" y="1399921"/>
            <a:ext cx="9386761" cy="4677197"/>
          </a:xfrm>
        </p:spPr>
      </p:pic>
    </p:spTree>
    <p:extLst>
      <p:ext uri="{BB962C8B-B14F-4D97-AF65-F5344CB8AC3E}">
        <p14:creationId xmlns:p14="http://schemas.microsoft.com/office/powerpoint/2010/main" val="18661686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E5E01-7867-43A4-8B55-6204C83B3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27728"/>
            <a:ext cx="9905998" cy="732330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Power bi dash board overview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D169AC-120E-4F51-B740-4313237C22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3" y="1197621"/>
            <a:ext cx="9402509" cy="5332652"/>
          </a:xfrm>
        </p:spPr>
      </p:pic>
    </p:spTree>
    <p:extLst>
      <p:ext uri="{BB962C8B-B14F-4D97-AF65-F5344CB8AC3E}">
        <p14:creationId xmlns:p14="http://schemas.microsoft.com/office/powerpoint/2010/main" val="3348764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 revenue VARIATION BY CATEGORY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3F0106-51D2-4193-ACA2-B4B865231FCA}"/>
              </a:ext>
            </a:extLst>
          </p:cNvPr>
          <p:cNvSpPr txBox="1"/>
          <p:nvPr/>
        </p:nvSpPr>
        <p:spPr>
          <a:xfrm>
            <a:off x="1141413" y="2419132"/>
            <a:ext cx="583507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Revenue Variation by Category</a:t>
            </a:r>
          </a:p>
          <a:p>
            <a:r>
              <a:rPr lang="en-US" sz="2400" dirty="0">
                <a:solidFill>
                  <a:schemeClr val="bg1"/>
                </a:solidFill>
              </a:rPr>
              <a:t>Use Funnel Chart</a:t>
            </a:r>
          </a:p>
          <a:p>
            <a:r>
              <a:rPr lang="en-US" sz="2400" dirty="0">
                <a:solidFill>
                  <a:schemeClr val="bg1"/>
                </a:solidFill>
              </a:rPr>
              <a:t>Axis → Category</a:t>
            </a:r>
          </a:p>
          <a:p>
            <a:r>
              <a:rPr lang="en-US" sz="2400" dirty="0">
                <a:solidFill>
                  <a:schemeClr val="bg1"/>
                </a:solidFill>
              </a:rPr>
              <a:t>Values → Total Revenue</a:t>
            </a:r>
          </a:p>
          <a:p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C081B34-4A08-4B39-BBBC-BB650467C3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195" y="1998732"/>
            <a:ext cx="3875690" cy="3584771"/>
          </a:xfrm>
        </p:spPr>
      </p:pic>
    </p:spTree>
    <p:extLst>
      <p:ext uri="{BB962C8B-B14F-4D97-AF65-F5344CB8AC3E}">
        <p14:creationId xmlns:p14="http://schemas.microsoft.com/office/powerpoint/2010/main" val="246930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Overall revenue for product brand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FE30F0-14BB-4463-B19F-92D6E77E91B6}"/>
              </a:ext>
            </a:extLst>
          </p:cNvPr>
          <p:cNvSpPr txBox="1"/>
          <p:nvPr/>
        </p:nvSpPr>
        <p:spPr>
          <a:xfrm>
            <a:off x="1313492" y="2272476"/>
            <a:ext cx="56887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Revenue Variation by Brand</a:t>
            </a:r>
          </a:p>
          <a:p>
            <a:r>
              <a:rPr lang="en-US" sz="2400" dirty="0">
                <a:solidFill>
                  <a:schemeClr val="bg1"/>
                </a:solidFill>
              </a:rPr>
              <a:t>Use Donut Chart</a:t>
            </a:r>
          </a:p>
          <a:p>
            <a:r>
              <a:rPr lang="en-US" sz="2400" dirty="0">
                <a:solidFill>
                  <a:schemeClr val="bg1"/>
                </a:solidFill>
              </a:rPr>
              <a:t>Axis → Brand</a:t>
            </a:r>
          </a:p>
          <a:p>
            <a:r>
              <a:rPr lang="en-US" sz="2400" dirty="0">
                <a:solidFill>
                  <a:schemeClr val="bg1"/>
                </a:solidFill>
              </a:rPr>
              <a:t>Values → Total Revenue</a:t>
            </a:r>
          </a:p>
          <a:p>
            <a:endParaRPr lang="en-IN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8DD12EC-2781-4C39-B40F-3F651CA109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019" y="2010609"/>
            <a:ext cx="5445940" cy="3759012"/>
          </a:xfrm>
        </p:spPr>
      </p:pic>
    </p:spTree>
    <p:extLst>
      <p:ext uri="{BB962C8B-B14F-4D97-AF65-F5344CB8AC3E}">
        <p14:creationId xmlns:p14="http://schemas.microsoft.com/office/powerpoint/2010/main" val="112695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DD4D9-01F5-4B3F-A6C0-92FC83122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585" y="1003412"/>
            <a:ext cx="9905998" cy="720190"/>
          </a:xfrm>
        </p:spPr>
        <p:txBody>
          <a:bodyPr>
            <a:normAutofit fontScale="90000"/>
          </a:bodyPr>
          <a:lstStyle/>
          <a:p>
            <a:r>
              <a:rPr lang="en-IN" dirty="0" err="1">
                <a:solidFill>
                  <a:schemeClr val="bg2"/>
                </a:solidFill>
              </a:rPr>
              <a:t>seller_city</a:t>
            </a:r>
            <a:r>
              <a:rPr lang="en-IN" dirty="0">
                <a:solidFill>
                  <a:schemeClr val="bg2"/>
                </a:solidFill>
              </a:rPr>
              <a:t> contributes the most to total sales</a:t>
            </a:r>
            <a:br>
              <a:rPr lang="en-IN" dirty="0">
                <a:solidFill>
                  <a:srgbClr val="0070C0"/>
                </a:solidFill>
              </a:rPr>
            </a:b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A75CD2-21E5-404A-BA32-5F490E863E1B}"/>
              </a:ext>
            </a:extLst>
          </p:cNvPr>
          <p:cNvSpPr/>
          <p:nvPr/>
        </p:nvSpPr>
        <p:spPr>
          <a:xfrm>
            <a:off x="1335186" y="2610351"/>
            <a:ext cx="392463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Seller City Contributing Most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Insert Map Visual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Location → </a:t>
            </a:r>
            <a:r>
              <a:rPr lang="en-US" sz="2400" dirty="0" err="1">
                <a:solidFill>
                  <a:schemeClr val="bg1"/>
                </a:solidFill>
              </a:rPr>
              <a:t>seller_city</a:t>
            </a:r>
            <a:endParaRPr lang="en-US" sz="24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Values → Total Revenue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8C714A6-4BC4-46DF-9EEB-DAD2DEA1D2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1650775"/>
            <a:ext cx="4625946" cy="4725749"/>
          </a:xfrm>
        </p:spPr>
      </p:pic>
    </p:spTree>
    <p:extLst>
      <p:ext uri="{BB962C8B-B14F-4D97-AF65-F5344CB8AC3E}">
        <p14:creationId xmlns:p14="http://schemas.microsoft.com/office/powerpoint/2010/main" val="1807464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625" y="529618"/>
            <a:ext cx="9905998" cy="1478570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conclusion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816100"/>
            <a:ext cx="9905999" cy="3975101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The Flipkart Sales Analysis project successfully demonstrates how raw sales data can be transformed into meaningful insights using Power BI. </a:t>
            </a:r>
          </a:p>
          <a:p>
            <a:r>
              <a:rPr lang="en-US" dirty="0">
                <a:solidFill>
                  <a:schemeClr val="bg1"/>
                </a:solidFill>
              </a:rPr>
              <a:t>Through effective data cleaning, preprocessing, and data modeling, the dataset was prepared for accurate analysis. </a:t>
            </a:r>
          </a:p>
          <a:p>
            <a:r>
              <a:rPr lang="en-US" dirty="0">
                <a:solidFill>
                  <a:schemeClr val="bg1"/>
                </a:solidFill>
              </a:rPr>
              <a:t>Interactive dashboards and visualizations helped in understanding sales trends, top-performing products, category-wise performance, and regional sales distribution.</a:t>
            </a:r>
          </a:p>
          <a:p>
            <a:r>
              <a:rPr lang="en-US" dirty="0">
                <a:solidFill>
                  <a:schemeClr val="bg1"/>
                </a:solidFill>
              </a:rPr>
              <a:t> The use of DAX measures enabled the calculation of key metrics and KPIs, supporting data-driven decision-making.</a:t>
            </a:r>
          </a:p>
          <a:p>
            <a:r>
              <a:rPr lang="en-US" dirty="0">
                <a:solidFill>
                  <a:schemeClr val="bg1"/>
                </a:solidFill>
              </a:rPr>
              <a:t> Overall, this project highlights the importance of business intelligence tools in improving sales analysis and enhancing strategic planning in the e-commerce sector.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2268863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122" name="Picture 2" descr="Guess kiya kya? #KuchKhaasKamao #ThankYouKamao #Flipkart #SellOnFlipkart  #FlipkartSellerHub #FlipkartSellers #OnlineSelling #OnlineBusiness  #Entrepreneur #Entrepreneurship #Payment #SellerHub #HowToSell #sell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983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76729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582</TotalTime>
  <Words>761</Words>
  <Application>Microsoft Office PowerPoint</Application>
  <PresentationFormat>Widescreen</PresentationFormat>
  <Paragraphs>89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Bodoni Bk BT</vt:lpstr>
      <vt:lpstr>Constantia</vt:lpstr>
      <vt:lpstr>Times New Roman</vt:lpstr>
      <vt:lpstr>Trebuchet MS</vt:lpstr>
      <vt:lpstr>Tw Cen MT</vt:lpstr>
      <vt:lpstr>Circuit</vt:lpstr>
      <vt:lpstr>FLIPKART SALES ANALYSIS </vt:lpstr>
      <vt:lpstr>INTRODUCTION</vt:lpstr>
      <vt:lpstr>PROBLEM STATEMENT</vt:lpstr>
      <vt:lpstr>Business problem</vt:lpstr>
      <vt:lpstr>Data overview</vt:lpstr>
      <vt:lpstr>Technology used</vt:lpstr>
      <vt:lpstr>Technology used</vt:lpstr>
      <vt:lpstr>Data  preprocessing</vt:lpstr>
      <vt:lpstr>Data cleaning</vt:lpstr>
      <vt:lpstr>Key metrics and kPI’ s</vt:lpstr>
      <vt:lpstr>Data modeling overview</vt:lpstr>
      <vt:lpstr>Dax measures</vt:lpstr>
      <vt:lpstr>Power bi dash board overview</vt:lpstr>
      <vt:lpstr>Power bi dash board overview</vt:lpstr>
      <vt:lpstr> revenue VARIATION BY CATEGORY</vt:lpstr>
      <vt:lpstr>Overall revenue for product brand</vt:lpstr>
      <vt:lpstr>seller_city contributes the most to total sales 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FLIPKART SALES ANALYSIS</dc:title>
  <dc:creator>Admin</dc:creator>
  <cp:lastModifiedBy>Anudip</cp:lastModifiedBy>
  <cp:revision>41</cp:revision>
  <dcterms:created xsi:type="dcterms:W3CDTF">2026-02-28T13:27:30Z</dcterms:created>
  <dcterms:modified xsi:type="dcterms:W3CDTF">2026-03-04T07:16:29Z</dcterms:modified>
</cp:coreProperties>
</file>