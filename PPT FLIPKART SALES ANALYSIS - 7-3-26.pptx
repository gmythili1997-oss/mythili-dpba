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6" r:id="rId15"/>
    <p:sldId id="269" r:id="rId16"/>
    <p:sldId id="270" r:id="rId17"/>
    <p:sldId id="275" r:id="rId18"/>
    <p:sldId id="273" r:id="rId19"/>
    <p:sldId id="274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63" d="100"/>
          <a:sy n="63" d="100"/>
        </p:scale>
        <p:origin x="732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6869C6FC-6876-49BD-B957-27F3FB447156}" type="datetimeFigureOut">
              <a:rPr lang="en-IN" smtClean="0"/>
              <a:t>07-03-2026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4C859375-A966-4532-A784-F17EC25D39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97697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9C6FC-6876-49BD-B957-27F3FB447156}" type="datetimeFigureOut">
              <a:rPr lang="en-IN" smtClean="0"/>
              <a:t>07-03-2026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59375-A966-4532-A784-F17EC25D39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30724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9C6FC-6876-49BD-B957-27F3FB447156}" type="datetimeFigureOut">
              <a:rPr lang="en-IN" smtClean="0"/>
              <a:t>07-03-2026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59375-A966-4532-A784-F17EC25D39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74644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9C6FC-6876-49BD-B957-27F3FB447156}" type="datetimeFigureOut">
              <a:rPr lang="en-IN" smtClean="0"/>
              <a:t>07-03-2026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59375-A966-4532-A784-F17EC25D39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21655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9C6FC-6876-49BD-B957-27F3FB447156}" type="datetimeFigureOut">
              <a:rPr lang="en-IN" smtClean="0"/>
              <a:t>07-03-2026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59375-A966-4532-A784-F17EC25D39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06255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9C6FC-6876-49BD-B957-27F3FB447156}" type="datetimeFigureOut">
              <a:rPr lang="en-IN" smtClean="0"/>
              <a:t>07-03-2026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59375-A966-4532-A784-F17EC25D39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51283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9C6FC-6876-49BD-B957-27F3FB447156}" type="datetimeFigureOut">
              <a:rPr lang="en-IN" smtClean="0"/>
              <a:t>07-03-2026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59375-A966-4532-A784-F17EC25D39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50524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9C6FC-6876-49BD-B957-27F3FB447156}" type="datetimeFigureOut">
              <a:rPr lang="en-IN" smtClean="0"/>
              <a:t>07-03-2026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59375-A966-4532-A784-F17EC25D39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78732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9C6FC-6876-49BD-B957-27F3FB447156}" type="datetimeFigureOut">
              <a:rPr lang="en-IN" smtClean="0"/>
              <a:t>07-03-2026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59375-A966-4532-A784-F17EC25D39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65840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9C6FC-6876-49BD-B957-27F3FB447156}" type="datetimeFigureOut">
              <a:rPr lang="en-IN" smtClean="0"/>
              <a:t>07-03-2026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59375-A966-4532-A784-F17EC25D39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91730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9C6FC-6876-49BD-B957-27F3FB447156}" type="datetimeFigureOut">
              <a:rPr lang="en-IN" smtClean="0"/>
              <a:t>07-03-2026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59375-A966-4532-A784-F17EC25D39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32136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9C6FC-6876-49BD-B957-27F3FB447156}" type="datetimeFigureOut">
              <a:rPr lang="en-IN" smtClean="0"/>
              <a:t>07-03-2026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59375-A966-4532-A784-F17EC25D3908}" type="slidenum">
              <a:rPr lang="en-IN" smtClean="0"/>
              <a:t>‹#›</a:t>
            </a:fld>
            <a:endParaRPr lang="en-IN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1992016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9C6FC-6876-49BD-B957-27F3FB447156}" type="datetimeFigureOut">
              <a:rPr lang="en-IN" smtClean="0"/>
              <a:t>07-03-2026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59375-A966-4532-A784-F17EC25D39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53590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9C6FC-6876-49BD-B957-27F3FB447156}" type="datetimeFigureOut">
              <a:rPr lang="en-IN" smtClean="0"/>
              <a:t>07-03-2026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59375-A966-4532-A784-F17EC25D39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523609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9C6FC-6876-49BD-B957-27F3FB447156}" type="datetimeFigureOut">
              <a:rPr lang="en-IN" smtClean="0"/>
              <a:t>07-03-2026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59375-A966-4532-A784-F17EC25D39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175163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9C6FC-6876-49BD-B957-27F3FB447156}" type="datetimeFigureOut">
              <a:rPr lang="en-IN" smtClean="0"/>
              <a:t>07-03-2026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59375-A966-4532-A784-F17EC25D39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853764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9C6FC-6876-49BD-B957-27F3FB447156}" type="datetimeFigureOut">
              <a:rPr lang="en-IN" smtClean="0"/>
              <a:t>07-03-2026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59375-A966-4532-A784-F17EC25D39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06616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69C6FC-6876-49BD-B957-27F3FB447156}" type="datetimeFigureOut">
              <a:rPr lang="en-IN" smtClean="0"/>
              <a:t>07-03-2026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859375-A966-4532-A784-F17EC25D39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868495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  <p:sldLayoutId id="2147483694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111167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FLIPKART SALES ANALYSIS 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solidFill>
                  <a:srgbClr val="FFFF00"/>
                </a:solidFill>
              </a:rPr>
              <a:t>                                                                                   </a:t>
            </a:r>
            <a:r>
              <a:rPr lang="en-US" dirty="0">
                <a:solidFill>
                  <a:schemeClr val="bg1"/>
                </a:solidFill>
              </a:rPr>
              <a:t>       -</a:t>
            </a:r>
            <a:r>
              <a:rPr lang="en-US" dirty="0">
                <a:solidFill>
                  <a:schemeClr val="bg1"/>
                </a:solidFill>
                <a:latin typeface="Bodoni Bk BT" panose="02070603070706020303" pitchFamily="18" charset="0"/>
              </a:rPr>
              <a:t>By </a:t>
            </a:r>
            <a:r>
              <a:rPr lang="en-US" dirty="0" err="1">
                <a:solidFill>
                  <a:schemeClr val="bg1"/>
                </a:solidFill>
                <a:latin typeface="Bodoni Bk BT" panose="02070603070706020303" pitchFamily="18" charset="0"/>
              </a:rPr>
              <a:t>Mythili</a:t>
            </a:r>
            <a:r>
              <a:rPr lang="en-US" dirty="0">
                <a:solidFill>
                  <a:schemeClr val="bg1"/>
                </a:solidFill>
                <a:latin typeface="Bodoni Bk BT" panose="02070603070706020303" pitchFamily="18" charset="0"/>
              </a:rPr>
              <a:t> G</a:t>
            </a:r>
            <a:endParaRPr lang="en-IN" dirty="0">
              <a:solidFill>
                <a:schemeClr val="bg1"/>
              </a:solidFill>
              <a:latin typeface="Bodoni Bk BT" panose="02070603070706020303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1668" y="908603"/>
            <a:ext cx="3547027" cy="1409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3986310"/>
      </p:ext>
    </p:extLst>
  </p:cSld>
  <p:clrMapOvr>
    <a:masterClrMapping/>
  </p:clrMapOvr>
  <p:transition spd="slow">
    <p:comb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2060"/>
                </a:solidFill>
              </a:rPr>
              <a:t>INTRODUCTION</a:t>
            </a:r>
            <a:endParaRPr lang="en-IN" dirty="0">
              <a:solidFill>
                <a:srgbClr val="00206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1412" y="1828800"/>
            <a:ext cx="9905999" cy="4329239"/>
          </a:xfrm>
        </p:spPr>
        <p:txBody>
          <a:bodyPr>
            <a:normAutofit fontScale="85000" lnSpcReduction="20000"/>
          </a:bodyPr>
          <a:lstStyle/>
          <a:p>
            <a:r>
              <a:rPr lang="en-US" dirty="0">
                <a:solidFill>
                  <a:schemeClr val="bg1">
                    <a:lumMod val="95000"/>
                    <a:lumOff val="5000"/>
                  </a:schemeClr>
                </a:solidFill>
              </a:rPr>
              <a:t>In today’s digital era, e-commerce platforms generate a huge volume of sales data every day. Analyzing this data is essential for understanding customer behavior, sales performance, and business growth. </a:t>
            </a:r>
          </a:p>
          <a:p>
            <a:r>
              <a:rPr lang="en-US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Flipkart</a:t>
            </a:r>
            <a:r>
              <a:rPr lang="en-US" dirty="0">
                <a:solidFill>
                  <a:schemeClr val="bg1">
                    <a:lumMod val="95000"/>
                    <a:lumOff val="5000"/>
                  </a:schemeClr>
                </a:solidFill>
              </a:rPr>
              <a:t>, one of India’s leading e-commerce companies, handles millions of transactions across various product categories, regions, and customer segments.</a:t>
            </a:r>
          </a:p>
          <a:p>
            <a:r>
              <a:rPr lang="en-US" dirty="0">
                <a:solidFill>
                  <a:schemeClr val="bg1">
                    <a:lumMod val="95000"/>
                    <a:lumOff val="5000"/>
                  </a:schemeClr>
                </a:solidFill>
              </a:rPr>
              <a:t>The </a:t>
            </a:r>
            <a:r>
              <a:rPr lang="en-US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Flipkart Sales Analysis</a:t>
            </a:r>
            <a:r>
              <a:rPr lang="en-US" dirty="0">
                <a:solidFill>
                  <a:schemeClr val="bg1">
                    <a:lumMod val="95000"/>
                    <a:lumOff val="5000"/>
                  </a:schemeClr>
                </a:solidFill>
              </a:rPr>
              <a:t> project focuses on analyzing sales data using </a:t>
            </a:r>
            <a:r>
              <a:rPr lang="en-US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Microsoft Power BI</a:t>
            </a:r>
            <a:r>
              <a:rPr lang="en-US" dirty="0">
                <a:solidFill>
                  <a:schemeClr val="bg1">
                    <a:lumMod val="95000"/>
                    <a:lumOff val="5000"/>
                  </a:schemeClr>
                </a:solidFill>
              </a:rPr>
              <a:t>, a powerful business intelligence and data visualization tool.</a:t>
            </a:r>
          </a:p>
          <a:p>
            <a:r>
              <a:rPr lang="en-US" dirty="0">
                <a:solidFill>
                  <a:schemeClr val="bg1">
                    <a:lumMod val="95000"/>
                    <a:lumOff val="5000"/>
                  </a:schemeClr>
                </a:solidFill>
              </a:rPr>
              <a:t>The main objective of this project is to transform raw sales data into meaningful insights through interactive dashboards and reports. </a:t>
            </a:r>
          </a:p>
          <a:p>
            <a:r>
              <a:rPr lang="en-US" dirty="0">
                <a:solidFill>
                  <a:schemeClr val="bg1">
                    <a:lumMod val="95000"/>
                    <a:lumOff val="5000"/>
                  </a:schemeClr>
                </a:solidFill>
              </a:rPr>
              <a:t>By visualizing key metrics such as total sales, revenue trends, top-selling products, category-wise performance, and regional sales distribution, stakeholders can make informed business decisions.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634131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2060"/>
                </a:solidFill>
              </a:rPr>
              <a:t>PROBLEM STATEMENT</a:t>
            </a:r>
            <a:endParaRPr lang="en-IN" dirty="0">
              <a:solidFill>
                <a:srgbClr val="00206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Flipkart generates a large volume of sales data that is difficult to analyze in raw format.</a:t>
            </a:r>
          </a:p>
          <a:p>
            <a:r>
              <a:rPr lang="en-US" dirty="0">
                <a:solidFill>
                  <a:schemeClr val="bg1"/>
                </a:solidFill>
              </a:rPr>
              <a:t>Lack of clear visualization makes it hard to identify sales trends, top products, and regional performance.</a:t>
            </a:r>
          </a:p>
          <a:p>
            <a:r>
              <a:rPr lang="en-US" dirty="0">
                <a:solidFill>
                  <a:schemeClr val="bg1"/>
                </a:solidFill>
              </a:rPr>
              <a:t>This project uses </a:t>
            </a:r>
            <a:r>
              <a:rPr lang="en-US" b="1" dirty="0">
                <a:solidFill>
                  <a:schemeClr val="bg1"/>
                </a:solidFill>
              </a:rPr>
              <a:t>Power BI</a:t>
            </a:r>
            <a:r>
              <a:rPr lang="en-US" dirty="0">
                <a:solidFill>
                  <a:schemeClr val="bg1"/>
                </a:solidFill>
              </a:rPr>
              <a:t> to transform raw data into interactive dashboards for easy analysis and better decision-making.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0182051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2060"/>
                </a:solidFill>
              </a:rPr>
              <a:t>Business problem</a:t>
            </a:r>
            <a:endParaRPr lang="en-IN" dirty="0">
              <a:solidFill>
                <a:srgbClr val="00206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1412" y="2249486"/>
            <a:ext cx="9905999" cy="4547823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IN" sz="2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1.How does revenue vary by product category?</a:t>
            </a:r>
            <a:br>
              <a:rPr lang="en-IN" sz="2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2.How does revenue vary by brand?</a:t>
            </a:r>
            <a:br>
              <a:rPr lang="en-IN" sz="2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3.What is the monthly sales trend based on </a:t>
            </a:r>
            <a:r>
              <a:rPr lang="en-IN" sz="2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listing_date</a:t>
            </a:r>
            <a:r>
              <a:rPr lang="en-IN" sz="2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  <a:p>
            <a:pPr marL="0" indent="0">
              <a:buNone/>
            </a:pPr>
            <a:r>
              <a:rPr lang="en-IN" sz="2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4.Which products are the top 10 revenue contributors?</a:t>
            </a:r>
          </a:p>
          <a:p>
            <a:pPr marL="0" indent="0">
              <a:buNone/>
            </a:pPr>
            <a:r>
              <a:rPr lang="en-IN" sz="2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5.Which sellers generate the highest revenue?</a:t>
            </a:r>
            <a:br>
              <a:rPr lang="en-IN" sz="2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6.Which </a:t>
            </a:r>
            <a:r>
              <a:rPr lang="en-IN" sz="2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seller_city</a:t>
            </a:r>
            <a:r>
              <a:rPr lang="en-IN" sz="2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contributes the most to total sales?</a:t>
            </a:r>
          </a:p>
          <a:p>
            <a:pPr marL="0" indent="0">
              <a:buNone/>
            </a:pPr>
            <a:r>
              <a:rPr lang="en-IN" sz="2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7.Seller city Vs ratings?</a:t>
            </a:r>
          </a:p>
          <a:p>
            <a:pPr marL="0" indent="0">
              <a:buNone/>
            </a:pPr>
            <a:r>
              <a:rPr lang="en-IN" sz="2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8. Which payment mode is most common?</a:t>
            </a:r>
          </a:p>
          <a:p>
            <a:pPr marL="0" indent="0">
              <a:buNone/>
            </a:pPr>
            <a:endParaRPr lang="en-IN" sz="23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br>
              <a:rPr lang="en-IN" dirty="0">
                <a:solidFill>
                  <a:schemeClr val="bg1"/>
                </a:solidFill>
              </a:rPr>
            </a:br>
            <a:r>
              <a:rPr lang="en-IN" dirty="0">
                <a:solidFill>
                  <a:schemeClr val="bg1"/>
                </a:solidFill>
              </a:rPr>
              <a:t> 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48492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2060"/>
                </a:solidFill>
              </a:rPr>
              <a:t>Data overview</a:t>
            </a:r>
            <a:endParaRPr lang="en-IN" dirty="0">
              <a:solidFill>
                <a:srgbClr val="00206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>
                <a:solidFill>
                  <a:schemeClr val="bg1"/>
                </a:solidFill>
              </a:rPr>
              <a:t>Product id</a:t>
            </a:r>
          </a:p>
          <a:p>
            <a:r>
              <a:rPr lang="en-US" dirty="0">
                <a:solidFill>
                  <a:schemeClr val="bg1"/>
                </a:solidFill>
              </a:rPr>
              <a:t>Product name</a:t>
            </a:r>
          </a:p>
          <a:p>
            <a:r>
              <a:rPr lang="en-US" dirty="0">
                <a:solidFill>
                  <a:schemeClr val="bg1"/>
                </a:solidFill>
              </a:rPr>
              <a:t>Category</a:t>
            </a:r>
          </a:p>
          <a:p>
            <a:r>
              <a:rPr lang="en-US" dirty="0">
                <a:solidFill>
                  <a:schemeClr val="bg1"/>
                </a:solidFill>
              </a:rPr>
              <a:t>Brand</a:t>
            </a:r>
          </a:p>
          <a:p>
            <a:r>
              <a:rPr lang="en-US" dirty="0">
                <a:solidFill>
                  <a:schemeClr val="bg1"/>
                </a:solidFill>
              </a:rPr>
              <a:t>Seller</a:t>
            </a:r>
          </a:p>
          <a:p>
            <a:r>
              <a:rPr lang="en-US" dirty="0">
                <a:solidFill>
                  <a:schemeClr val="bg1"/>
                </a:solidFill>
              </a:rPr>
              <a:t>Seller city</a:t>
            </a:r>
          </a:p>
          <a:p>
            <a:r>
              <a:rPr lang="en-US" dirty="0">
                <a:solidFill>
                  <a:schemeClr val="bg1"/>
                </a:solidFill>
              </a:rPr>
              <a:t>price</a:t>
            </a: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25648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14:shred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091012"/>
          </a:xfrm>
        </p:spPr>
        <p:txBody>
          <a:bodyPr/>
          <a:lstStyle/>
          <a:p>
            <a:r>
              <a:rPr lang="en-US" dirty="0">
                <a:solidFill>
                  <a:srgbClr val="002060"/>
                </a:solidFill>
              </a:rPr>
              <a:t>Technology used</a:t>
            </a:r>
            <a:endParaRPr lang="en-IN" dirty="0">
              <a:solidFill>
                <a:srgbClr val="00206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1412" y="1709530"/>
            <a:ext cx="9905999" cy="4081671"/>
          </a:xfrm>
        </p:spPr>
        <p:txBody>
          <a:bodyPr>
            <a:normAutofit fontScale="32500" lnSpcReduction="20000"/>
          </a:bodyPr>
          <a:lstStyle/>
          <a:p>
            <a:pPr marL="0" indent="0">
              <a:buNone/>
            </a:pPr>
            <a:r>
              <a:rPr lang="en-US" sz="7200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Source</a:t>
            </a:r>
          </a:p>
          <a:p>
            <a:r>
              <a:rPr lang="en-US" sz="7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Flipkart Sales Dataset collected in </a:t>
            </a:r>
            <a:r>
              <a:rPr lang="en-US" sz="7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Excel format</a:t>
            </a:r>
            <a:r>
              <a:rPr lang="en-US" sz="7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containing sales and order details.</a:t>
            </a:r>
          </a:p>
          <a:p>
            <a:pPr marL="0" indent="0">
              <a:buNone/>
            </a:pPr>
            <a:r>
              <a:rPr lang="en-US" sz="7400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Preparation &amp; Transformation (ETL)</a:t>
            </a:r>
          </a:p>
          <a:p>
            <a:r>
              <a:rPr lang="en-US" sz="7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Power Query</a:t>
            </a:r>
            <a:r>
              <a:rPr lang="en-US" sz="7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is used to clean, transform, and organize the raw sales data.</a:t>
            </a:r>
          </a:p>
          <a:p>
            <a:r>
              <a:rPr lang="en-US" sz="7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Modeling</a:t>
            </a:r>
            <a:r>
              <a:rPr lang="en-US" sz="7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involves creating tables such as </a:t>
            </a:r>
            <a:r>
              <a:rPr lang="en-US" sz="7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Calendar, Product, Category, and City</a:t>
            </a:r>
            <a:r>
              <a:rPr lang="en-US" sz="7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and establishing proper relationships between them.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7810167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airplane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2060"/>
                </a:solidFill>
              </a:rPr>
              <a:t>Technology used</a:t>
            </a:r>
            <a:endParaRPr lang="en-IN" dirty="0">
              <a:solidFill>
                <a:srgbClr val="00206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1412" y="1789043"/>
            <a:ext cx="9905999" cy="4271892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US" sz="8000" b="1" dirty="0">
                <a:solidFill>
                  <a:schemeClr val="bg2"/>
                </a:solidFill>
                <a:latin typeface="Constantia" panose="02030602050306030303" pitchFamily="18" charset="0"/>
                <a:cs typeface="Times New Roman" panose="02020603050405020304" pitchFamily="18" charset="0"/>
              </a:rPr>
              <a:t>Data Analysis &amp; Visualization</a:t>
            </a:r>
          </a:p>
          <a:p>
            <a:r>
              <a:rPr lang="en-US" sz="8000" dirty="0">
                <a:solidFill>
                  <a:schemeClr val="bg1"/>
                </a:solidFill>
                <a:latin typeface="Constantia" panose="02030602050306030303" pitchFamily="18" charset="0"/>
                <a:cs typeface="Times New Roman" panose="02020603050405020304" pitchFamily="18" charset="0"/>
              </a:rPr>
              <a:t>Power BI is used for analyzing sales performance.</a:t>
            </a:r>
          </a:p>
          <a:p>
            <a:r>
              <a:rPr lang="en-US" sz="8000" dirty="0">
                <a:solidFill>
                  <a:schemeClr val="bg1"/>
                </a:solidFill>
                <a:latin typeface="Constantia" panose="02030602050306030303" pitchFamily="18" charset="0"/>
                <a:cs typeface="Times New Roman" panose="02020603050405020304" pitchFamily="18" charset="0"/>
              </a:rPr>
              <a:t>Various visualizations are created, including Clustered column , Pie chart, Area chart, Tree Map, Stacked chart, Filled Map, Line chart, Funnel chart .</a:t>
            </a:r>
          </a:p>
          <a:p>
            <a:r>
              <a:rPr lang="en-US" sz="8000" dirty="0">
                <a:solidFill>
                  <a:schemeClr val="bg1"/>
                </a:solidFill>
                <a:latin typeface="Constantia" panose="02030602050306030303" pitchFamily="18" charset="0"/>
                <a:cs typeface="Times New Roman" panose="02020603050405020304" pitchFamily="18" charset="0"/>
              </a:rPr>
              <a:t>DAX measures are used to calculate key metrics such as total sales, revenue, and growth trends.</a:t>
            </a:r>
          </a:p>
          <a:p>
            <a:pPr marL="0" indent="0">
              <a:buNone/>
            </a:pPr>
            <a:r>
              <a:rPr lang="en-US" sz="8000" b="1" dirty="0">
                <a:solidFill>
                  <a:schemeClr val="bg2"/>
                </a:solidFill>
                <a:latin typeface="Constantia" panose="02030602050306030303" pitchFamily="18" charset="0"/>
                <a:cs typeface="Times New Roman" panose="02020603050405020304" pitchFamily="18" charset="0"/>
              </a:rPr>
              <a:t>Data Insights &amp; Reporting</a:t>
            </a:r>
          </a:p>
          <a:p>
            <a:r>
              <a:rPr lang="en-US" sz="8000" dirty="0">
                <a:solidFill>
                  <a:schemeClr val="bg1"/>
                </a:solidFill>
                <a:latin typeface="Constantia" panose="02030602050306030303" pitchFamily="18" charset="0"/>
                <a:cs typeface="Times New Roman" panose="02020603050405020304" pitchFamily="18" charset="0"/>
              </a:rPr>
              <a:t>An interactive Power BI Dashboard is developed to present clear insights for decision-makers.</a:t>
            </a:r>
          </a:p>
          <a:p>
            <a:r>
              <a:rPr lang="en-US" sz="8000" dirty="0">
                <a:solidFill>
                  <a:schemeClr val="bg1"/>
                </a:solidFill>
                <a:latin typeface="Constantia" panose="02030602050306030303" pitchFamily="18" charset="0"/>
                <a:cs typeface="Times New Roman" panose="02020603050405020304" pitchFamily="18" charset="0"/>
              </a:rPr>
              <a:t>Filters and Slicers are applied to analyze sales by category, product, city, month, and payment method</a:t>
            </a:r>
            <a:r>
              <a:rPr lang="en-US" sz="4800" dirty="0">
                <a:solidFill>
                  <a:schemeClr val="bg1"/>
                </a:solidFill>
                <a:latin typeface="Constantia" panose="02030602050306030303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203155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2060"/>
                </a:solidFill>
              </a:rPr>
              <a:t>Data  preprocessing</a:t>
            </a:r>
            <a:endParaRPr lang="en-IN" dirty="0">
              <a:solidFill>
                <a:srgbClr val="00206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Imported Flipkart sales data from </a:t>
            </a:r>
            <a:r>
              <a:rPr lang="en-US" b="1" dirty="0">
                <a:solidFill>
                  <a:schemeClr val="bg1"/>
                </a:solidFill>
              </a:rPr>
              <a:t>Excel</a:t>
            </a:r>
            <a:r>
              <a:rPr lang="en-US" dirty="0">
                <a:solidFill>
                  <a:schemeClr val="bg1"/>
                </a:solidFill>
              </a:rPr>
              <a:t> into Power BI.</a:t>
            </a:r>
          </a:p>
          <a:p>
            <a:r>
              <a:rPr lang="en-US" dirty="0">
                <a:solidFill>
                  <a:schemeClr val="bg1"/>
                </a:solidFill>
              </a:rPr>
              <a:t>Verified column structure and corrected data types (Date, Text, Number).</a:t>
            </a:r>
          </a:p>
          <a:p>
            <a:r>
              <a:rPr lang="en-US" dirty="0">
                <a:solidFill>
                  <a:schemeClr val="bg1"/>
                </a:solidFill>
              </a:rPr>
              <a:t>Created new fields such as </a:t>
            </a:r>
            <a:r>
              <a:rPr lang="en-US" b="1" dirty="0">
                <a:solidFill>
                  <a:schemeClr val="bg1"/>
                </a:solidFill>
              </a:rPr>
              <a:t>Month, Year</a:t>
            </a:r>
            <a:r>
              <a:rPr lang="en-US" dirty="0">
                <a:solidFill>
                  <a:schemeClr val="bg1"/>
                </a:solidFill>
              </a:rPr>
              <a:t> from the order date.</a:t>
            </a:r>
          </a:p>
          <a:p>
            <a:r>
              <a:rPr lang="en-US" dirty="0">
                <a:solidFill>
                  <a:schemeClr val="bg1"/>
                </a:solidFill>
              </a:rPr>
              <a:t>Prepared supporting tables like </a:t>
            </a:r>
            <a:r>
              <a:rPr lang="en-US" b="1" dirty="0">
                <a:solidFill>
                  <a:schemeClr val="bg1"/>
                </a:solidFill>
              </a:rPr>
              <a:t>Calendar, Product, Category, and City</a:t>
            </a:r>
          </a:p>
          <a:p>
            <a:r>
              <a:rPr lang="en-US" dirty="0">
                <a:solidFill>
                  <a:schemeClr val="bg1"/>
                </a:solidFill>
              </a:rPr>
              <a:t>Established relationships between fact and dimension tables for analysis.</a:t>
            </a: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96619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2060"/>
                </a:solidFill>
              </a:rPr>
              <a:t>Data cleaning</a:t>
            </a:r>
            <a:endParaRPr lang="en-IN" dirty="0">
              <a:solidFill>
                <a:srgbClr val="00206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Identified and handled </a:t>
            </a:r>
            <a:r>
              <a:rPr lang="en-US" b="1" dirty="0">
                <a:solidFill>
                  <a:schemeClr val="bg1"/>
                </a:solidFill>
              </a:rPr>
              <a:t>missing or blank values</a:t>
            </a:r>
            <a:r>
              <a:rPr lang="en-US" dirty="0">
                <a:solidFill>
                  <a:schemeClr val="bg1"/>
                </a:solidFill>
              </a:rPr>
              <a:t> in key columns.</a:t>
            </a:r>
          </a:p>
          <a:p>
            <a:r>
              <a:rPr lang="en-US" dirty="0">
                <a:solidFill>
                  <a:schemeClr val="bg1"/>
                </a:solidFill>
              </a:rPr>
              <a:t>Removed </a:t>
            </a:r>
            <a:r>
              <a:rPr lang="en-US" b="1" dirty="0">
                <a:solidFill>
                  <a:schemeClr val="bg1"/>
                </a:solidFill>
              </a:rPr>
              <a:t>duplicate records</a:t>
            </a:r>
            <a:r>
              <a:rPr lang="en-US" dirty="0">
                <a:solidFill>
                  <a:schemeClr val="bg1"/>
                </a:solidFill>
              </a:rPr>
              <a:t> to ensure accurate sales calculations.</a:t>
            </a:r>
          </a:p>
          <a:p>
            <a:r>
              <a:rPr lang="en-US" dirty="0">
                <a:solidFill>
                  <a:schemeClr val="bg1"/>
                </a:solidFill>
              </a:rPr>
              <a:t>Renamed columns for clarity and consistency.</a:t>
            </a:r>
          </a:p>
          <a:p>
            <a:r>
              <a:rPr lang="en-US" dirty="0">
                <a:solidFill>
                  <a:schemeClr val="bg1"/>
                </a:solidFill>
              </a:rPr>
              <a:t>Standardized category and city names to avoid mismatch.</a:t>
            </a:r>
          </a:p>
          <a:p>
            <a:r>
              <a:rPr lang="en-US" dirty="0">
                <a:solidFill>
                  <a:schemeClr val="bg1"/>
                </a:solidFill>
              </a:rPr>
              <a:t>Removed unnecessary or irrelevant columns.</a:t>
            </a: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5214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4309" y="157161"/>
            <a:ext cx="9905998" cy="854232"/>
          </a:xfrm>
        </p:spPr>
        <p:txBody>
          <a:bodyPr/>
          <a:lstStyle/>
          <a:p>
            <a:r>
              <a:rPr lang="en-IN" b="1" dirty="0">
                <a:solidFill>
                  <a:srgbClr val="002060"/>
                </a:solidFill>
              </a:rPr>
              <a:t>Key metrics and </a:t>
            </a:r>
            <a:r>
              <a:rPr lang="en-IN" b="1" dirty="0" err="1">
                <a:solidFill>
                  <a:srgbClr val="002060"/>
                </a:solidFill>
              </a:rPr>
              <a:t>kPI</a:t>
            </a:r>
            <a:r>
              <a:rPr lang="en-IN" b="1" dirty="0">
                <a:solidFill>
                  <a:srgbClr val="002060"/>
                </a:solidFill>
              </a:rPr>
              <a:t>’ s</a:t>
            </a:r>
            <a:endParaRPr lang="en-IN" dirty="0">
              <a:solidFill>
                <a:srgbClr val="00206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73780" y="2524716"/>
            <a:ext cx="3147367" cy="3374378"/>
          </a:xfrm>
        </p:spPr>
        <p:txBody>
          <a:bodyPr>
            <a:normAutofit fontScale="77500" lnSpcReduction="20000"/>
          </a:bodyPr>
          <a:lstStyle/>
          <a:p>
            <a:pPr lvl="0"/>
            <a:r>
              <a:rPr lang="en-IN" dirty="0">
                <a:solidFill>
                  <a:schemeClr val="bg1"/>
                </a:solidFill>
              </a:rPr>
              <a:t>Total Discount Given </a:t>
            </a:r>
          </a:p>
          <a:p>
            <a:pPr lvl="0"/>
            <a:r>
              <a:rPr lang="en-IN" dirty="0">
                <a:solidFill>
                  <a:schemeClr val="bg1"/>
                </a:solidFill>
              </a:rPr>
              <a:t>Average Discount % </a:t>
            </a:r>
          </a:p>
          <a:p>
            <a:pPr lvl="0"/>
            <a:r>
              <a:rPr lang="en-IN" dirty="0">
                <a:solidFill>
                  <a:schemeClr val="bg1"/>
                </a:solidFill>
              </a:rPr>
              <a:t>Total Reviews</a:t>
            </a:r>
          </a:p>
          <a:p>
            <a:pPr lvl="0"/>
            <a:r>
              <a:rPr lang="en-IN" dirty="0">
                <a:solidFill>
                  <a:schemeClr val="bg1"/>
                </a:solidFill>
              </a:rPr>
              <a:t>Top Selling Category </a:t>
            </a:r>
          </a:p>
          <a:p>
            <a:pPr lvl="0"/>
            <a:r>
              <a:rPr lang="en-IN" dirty="0">
                <a:solidFill>
                  <a:schemeClr val="bg1"/>
                </a:solidFill>
              </a:rPr>
              <a:t>Top Units sold</a:t>
            </a:r>
          </a:p>
          <a:p>
            <a:pPr lvl="0"/>
            <a:r>
              <a:rPr lang="en-IN" dirty="0">
                <a:solidFill>
                  <a:schemeClr val="bg1"/>
                </a:solidFill>
              </a:rPr>
              <a:t>Average Delivery Time </a:t>
            </a:r>
          </a:p>
          <a:p>
            <a:pPr lvl="0"/>
            <a:r>
              <a:rPr lang="en-IN" dirty="0">
                <a:solidFill>
                  <a:schemeClr val="bg1"/>
                </a:solidFill>
              </a:rPr>
              <a:t>Average Shipping Weight </a:t>
            </a:r>
          </a:p>
          <a:p>
            <a:pPr lvl="0"/>
            <a:r>
              <a:rPr lang="en-IN" dirty="0">
                <a:solidFill>
                  <a:schemeClr val="bg1"/>
                </a:solidFill>
              </a:rPr>
              <a:t>Top Seller by Revenue.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DEBE9CA-75DF-49C0-8DF2-93BA7E371A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8920" y="1154691"/>
            <a:ext cx="11679280" cy="80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44709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400">
        <p14:honeycomb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2060"/>
                </a:solidFill>
              </a:rPr>
              <a:t>Data modeling overview</a:t>
            </a:r>
            <a:endParaRPr lang="en-IN" dirty="0">
              <a:solidFill>
                <a:srgbClr val="002060"/>
              </a:solidFill>
            </a:endParaRP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092297DD-8D6B-44CA-9C71-E6BA1D07C7F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313" y="1707419"/>
            <a:ext cx="9905998" cy="4532063"/>
          </a:xfrm>
        </p:spPr>
      </p:pic>
    </p:spTree>
    <p:extLst>
      <p:ext uri="{BB962C8B-B14F-4D97-AF65-F5344CB8AC3E}">
        <p14:creationId xmlns:p14="http://schemas.microsoft.com/office/powerpoint/2010/main" val="410718221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solidFill>
                  <a:srgbClr val="002060"/>
                </a:solidFill>
              </a:rPr>
              <a:t>Dax</a:t>
            </a:r>
            <a:r>
              <a:rPr lang="en-US" dirty="0">
                <a:solidFill>
                  <a:srgbClr val="002060"/>
                </a:solidFill>
              </a:rPr>
              <a:t> measures</a:t>
            </a:r>
            <a:endParaRPr lang="en-IN" dirty="0">
              <a:solidFill>
                <a:srgbClr val="00206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DAX (Data Analysis Expressions)</a:t>
            </a:r>
            <a:r>
              <a:rPr lang="en-US" dirty="0">
                <a:solidFill>
                  <a:schemeClr val="bg1"/>
                </a:solidFill>
              </a:rPr>
              <a:t> measures are </a:t>
            </a:r>
            <a:r>
              <a:rPr lang="en-US" b="1" dirty="0">
                <a:solidFill>
                  <a:schemeClr val="bg1"/>
                </a:solidFill>
              </a:rPr>
              <a:t>formulas used in Power BI</a:t>
            </a:r>
            <a:r>
              <a:rPr lang="en-US" dirty="0">
                <a:solidFill>
                  <a:schemeClr val="bg1"/>
                </a:solidFill>
              </a:rPr>
              <a:t> to calculate values like </a:t>
            </a:r>
            <a:r>
              <a:rPr lang="en-US" b="1" dirty="0">
                <a:solidFill>
                  <a:schemeClr val="bg1"/>
                </a:solidFill>
              </a:rPr>
              <a:t>Total Sales, Total Orders, Average, Growth</a:t>
            </a:r>
            <a:r>
              <a:rPr lang="en-US" dirty="0">
                <a:solidFill>
                  <a:schemeClr val="bg1"/>
                </a:solidFill>
              </a:rPr>
              <a:t>, etc.</a:t>
            </a:r>
          </a:p>
          <a:p>
            <a:pPr marL="0" indent="0">
              <a:buNone/>
            </a:pPr>
            <a:r>
              <a:rPr lang="en-US" sz="2800" b="1" dirty="0">
                <a:solidFill>
                  <a:srgbClr val="002060"/>
                </a:solidFill>
              </a:rPr>
              <a:t>MEASURES</a:t>
            </a:r>
          </a:p>
          <a:p>
            <a:pPr lvl="0"/>
            <a:r>
              <a:rPr lang="en-IN" dirty="0">
                <a:solidFill>
                  <a:schemeClr val="bg1"/>
                </a:solidFill>
              </a:rPr>
              <a:t>Total Discount Given = SUM(price − </a:t>
            </a:r>
            <a:r>
              <a:rPr lang="en-IN" dirty="0" err="1">
                <a:solidFill>
                  <a:schemeClr val="bg1"/>
                </a:solidFill>
              </a:rPr>
              <a:t>final_price</a:t>
            </a:r>
            <a:r>
              <a:rPr lang="en-IN" dirty="0">
                <a:solidFill>
                  <a:schemeClr val="bg1"/>
                </a:solidFill>
              </a:rPr>
              <a:t>)</a:t>
            </a:r>
          </a:p>
          <a:p>
            <a:pPr lvl="0"/>
            <a:r>
              <a:rPr lang="en-IN" dirty="0">
                <a:solidFill>
                  <a:schemeClr val="bg1"/>
                </a:solidFill>
              </a:rPr>
              <a:t>Total Reviews = SUM(</a:t>
            </a:r>
            <a:r>
              <a:rPr lang="en-IN" dirty="0" err="1">
                <a:solidFill>
                  <a:schemeClr val="bg1"/>
                </a:solidFill>
              </a:rPr>
              <a:t>review_count</a:t>
            </a:r>
            <a:r>
              <a:rPr lang="en-IN" dirty="0">
                <a:solidFill>
                  <a:schemeClr val="bg1"/>
                </a:solidFill>
              </a:rPr>
              <a:t>)</a:t>
            </a:r>
          </a:p>
          <a:p>
            <a:r>
              <a:rPr lang="en-US" dirty="0">
                <a:solidFill>
                  <a:schemeClr val="bg1"/>
                </a:solidFill>
              </a:rPr>
              <a:t>Average Delivery Time = AVERAGE(Sales[</a:t>
            </a:r>
            <a:r>
              <a:rPr lang="en-US" dirty="0" err="1">
                <a:solidFill>
                  <a:schemeClr val="bg1"/>
                </a:solidFill>
              </a:rPr>
              <a:t>delivery_time</a:t>
            </a:r>
            <a:r>
              <a:rPr lang="en-US" dirty="0">
                <a:solidFill>
                  <a:schemeClr val="bg1"/>
                </a:solidFill>
              </a:rPr>
              <a:t>])</a:t>
            </a:r>
            <a:endParaRPr lang="en-IN" dirty="0">
              <a:solidFill>
                <a:schemeClr val="bg1"/>
              </a:solidFill>
            </a:endParaRPr>
          </a:p>
          <a:p>
            <a:pPr marL="0" lvl="0" indent="0">
              <a:buNone/>
            </a:pP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84739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323681"/>
            <a:ext cx="9905998" cy="1076241"/>
          </a:xfrm>
        </p:spPr>
        <p:txBody>
          <a:bodyPr/>
          <a:lstStyle/>
          <a:p>
            <a:r>
              <a:rPr lang="en-US" dirty="0">
                <a:solidFill>
                  <a:srgbClr val="002060"/>
                </a:solidFill>
              </a:rPr>
              <a:t>Power bi dash board overview</a:t>
            </a:r>
            <a:endParaRPr lang="en-IN" dirty="0">
              <a:solidFill>
                <a:srgbClr val="002060"/>
              </a:solidFill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78B66F0C-4C39-40AF-843C-419E1009115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681" y="1219200"/>
            <a:ext cx="10051730" cy="5080000"/>
          </a:xfrm>
        </p:spPr>
      </p:pic>
    </p:spTree>
    <p:extLst>
      <p:ext uri="{BB962C8B-B14F-4D97-AF65-F5344CB8AC3E}">
        <p14:creationId xmlns:p14="http://schemas.microsoft.com/office/powerpoint/2010/main" val="186616869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0E5E01-7867-43A4-8B55-6204C83B3F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327728"/>
            <a:ext cx="9905998" cy="732330"/>
          </a:xfrm>
        </p:spPr>
        <p:txBody>
          <a:bodyPr/>
          <a:lstStyle/>
          <a:p>
            <a:r>
              <a:rPr lang="en-US" dirty="0">
                <a:solidFill>
                  <a:srgbClr val="002060"/>
                </a:solidFill>
              </a:rPr>
              <a:t>Power bi dash board overview</a:t>
            </a:r>
            <a:endParaRPr lang="en-IN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0C24746A-E498-470A-8F7A-2F4A6F74FD6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1413" y="1173345"/>
            <a:ext cx="9491521" cy="5502584"/>
          </a:xfrm>
        </p:spPr>
      </p:pic>
    </p:spTree>
    <p:extLst>
      <p:ext uri="{BB962C8B-B14F-4D97-AF65-F5344CB8AC3E}">
        <p14:creationId xmlns:p14="http://schemas.microsoft.com/office/powerpoint/2010/main" val="33487643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002060"/>
                </a:solidFill>
              </a:rPr>
              <a:t> revenue VARIATION BY CATEGORY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43F0106-51D2-4193-ACA2-B4B865231FCA}"/>
              </a:ext>
            </a:extLst>
          </p:cNvPr>
          <p:cNvSpPr txBox="1"/>
          <p:nvPr/>
        </p:nvSpPr>
        <p:spPr>
          <a:xfrm>
            <a:off x="1141413" y="2419132"/>
            <a:ext cx="5835073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Revenue Variation by Category</a:t>
            </a:r>
          </a:p>
          <a:p>
            <a:r>
              <a:rPr lang="en-US" sz="2400" dirty="0">
                <a:solidFill>
                  <a:schemeClr val="bg1"/>
                </a:solidFill>
              </a:rPr>
              <a:t>Use Funnel Chart</a:t>
            </a:r>
          </a:p>
          <a:p>
            <a:r>
              <a:rPr lang="en-US" sz="2400" dirty="0">
                <a:solidFill>
                  <a:schemeClr val="bg1"/>
                </a:solidFill>
              </a:rPr>
              <a:t>Axis → Category</a:t>
            </a:r>
          </a:p>
          <a:p>
            <a:r>
              <a:rPr lang="en-US" sz="2400" dirty="0">
                <a:solidFill>
                  <a:schemeClr val="bg1"/>
                </a:solidFill>
              </a:rPr>
              <a:t>Values → Total Revenue</a:t>
            </a:r>
          </a:p>
          <a:p>
            <a:endParaRPr lang="en-IN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BB61CAC7-1FEA-4839-8883-59F1F19A16C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3561" y="2039193"/>
            <a:ext cx="3989374" cy="3730428"/>
          </a:xfrm>
        </p:spPr>
      </p:pic>
    </p:spTree>
    <p:extLst>
      <p:ext uri="{BB962C8B-B14F-4D97-AF65-F5344CB8AC3E}">
        <p14:creationId xmlns:p14="http://schemas.microsoft.com/office/powerpoint/2010/main" val="24693072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900">
        <p14:glitter pattern="hexagon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2060"/>
                </a:solidFill>
              </a:rPr>
              <a:t>Overall revenue for product brand</a:t>
            </a:r>
            <a:endParaRPr lang="en-IN" dirty="0">
              <a:solidFill>
                <a:srgbClr val="00206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7FE30F0-14BB-4463-B19F-92D6E77E91B6}"/>
              </a:ext>
            </a:extLst>
          </p:cNvPr>
          <p:cNvSpPr txBox="1"/>
          <p:nvPr/>
        </p:nvSpPr>
        <p:spPr>
          <a:xfrm>
            <a:off x="1313492" y="2272476"/>
            <a:ext cx="5688700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Revenue Variation by Brand</a:t>
            </a:r>
          </a:p>
          <a:p>
            <a:r>
              <a:rPr lang="en-US" sz="2400" dirty="0">
                <a:solidFill>
                  <a:schemeClr val="bg1"/>
                </a:solidFill>
              </a:rPr>
              <a:t>Use Donut Chart</a:t>
            </a:r>
          </a:p>
          <a:p>
            <a:r>
              <a:rPr lang="en-US" sz="2400" dirty="0">
                <a:solidFill>
                  <a:schemeClr val="bg1"/>
                </a:solidFill>
              </a:rPr>
              <a:t>Axis → Brand</a:t>
            </a:r>
          </a:p>
          <a:p>
            <a:r>
              <a:rPr lang="en-US" sz="2400" dirty="0">
                <a:solidFill>
                  <a:schemeClr val="bg1"/>
                </a:solidFill>
              </a:rPr>
              <a:t>Values → Total Revenue</a:t>
            </a:r>
          </a:p>
          <a:p>
            <a:endParaRPr lang="en-IN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BEEB763F-E702-4011-BF73-01F2CD3B11C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5509" y="1885444"/>
            <a:ext cx="5391902" cy="4094570"/>
          </a:xfrm>
        </p:spPr>
      </p:pic>
    </p:spTree>
    <p:extLst>
      <p:ext uri="{BB962C8B-B14F-4D97-AF65-F5344CB8AC3E}">
        <p14:creationId xmlns:p14="http://schemas.microsoft.com/office/powerpoint/2010/main" val="1126951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7DD4D9-01F5-4B3F-A6C0-92FC831229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8585" y="1003412"/>
            <a:ext cx="9905998" cy="720190"/>
          </a:xfrm>
        </p:spPr>
        <p:txBody>
          <a:bodyPr>
            <a:normAutofit fontScale="90000"/>
          </a:bodyPr>
          <a:lstStyle/>
          <a:p>
            <a:r>
              <a:rPr lang="en-IN" dirty="0" err="1">
                <a:solidFill>
                  <a:schemeClr val="bg2"/>
                </a:solidFill>
              </a:rPr>
              <a:t>seller_city</a:t>
            </a:r>
            <a:r>
              <a:rPr lang="en-IN" dirty="0">
                <a:solidFill>
                  <a:schemeClr val="bg2"/>
                </a:solidFill>
              </a:rPr>
              <a:t> contributes the most to total sales</a:t>
            </a:r>
            <a:br>
              <a:rPr lang="en-IN" dirty="0">
                <a:solidFill>
                  <a:srgbClr val="0070C0"/>
                </a:solidFill>
              </a:rPr>
            </a:br>
            <a:endParaRPr lang="en-IN" dirty="0">
              <a:solidFill>
                <a:srgbClr val="0070C0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6A75CD2-21E5-404A-BA32-5F490E863E1B}"/>
              </a:ext>
            </a:extLst>
          </p:cNvPr>
          <p:cNvSpPr/>
          <p:nvPr/>
        </p:nvSpPr>
        <p:spPr>
          <a:xfrm>
            <a:off x="1335186" y="2610351"/>
            <a:ext cx="3924637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Seller City Contributing Most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Insert Map Visual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Location → </a:t>
            </a:r>
            <a:r>
              <a:rPr lang="en-US" sz="2400" dirty="0" err="1">
                <a:solidFill>
                  <a:schemeClr val="bg1"/>
                </a:solidFill>
              </a:rPr>
              <a:t>seller_city</a:t>
            </a:r>
            <a:endParaRPr lang="en-US" sz="2400" dirty="0">
              <a:solidFill>
                <a:schemeClr val="bg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Values → Total Revenue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FAE4A066-D97D-4BBC-95C6-379D5A1AA09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723602"/>
            <a:ext cx="4456014" cy="4240228"/>
          </a:xfrm>
        </p:spPr>
      </p:pic>
    </p:spTree>
    <p:extLst>
      <p:ext uri="{BB962C8B-B14F-4D97-AF65-F5344CB8AC3E}">
        <p14:creationId xmlns:p14="http://schemas.microsoft.com/office/powerpoint/2010/main" val="18074641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0625" y="529618"/>
            <a:ext cx="9905998" cy="1478570"/>
          </a:xfrm>
        </p:spPr>
        <p:txBody>
          <a:bodyPr/>
          <a:lstStyle/>
          <a:p>
            <a:r>
              <a:rPr lang="en-US" dirty="0">
                <a:solidFill>
                  <a:srgbClr val="002060"/>
                </a:solidFill>
              </a:rPr>
              <a:t>conclusion</a:t>
            </a:r>
            <a:endParaRPr lang="en-IN" dirty="0">
              <a:solidFill>
                <a:srgbClr val="00206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1412" y="1816100"/>
            <a:ext cx="9905999" cy="3975101"/>
          </a:xfrm>
        </p:spPr>
        <p:txBody>
          <a:bodyPr>
            <a:normAutofit fontScale="92500" lnSpcReduction="20000"/>
          </a:bodyPr>
          <a:lstStyle/>
          <a:p>
            <a:r>
              <a:rPr lang="en-US" dirty="0">
                <a:solidFill>
                  <a:schemeClr val="bg1"/>
                </a:solidFill>
              </a:rPr>
              <a:t>The Flipkart Sales Analysis project successfully demonstrates how raw sales data can be transformed into meaningful insights using Power BI. </a:t>
            </a:r>
          </a:p>
          <a:p>
            <a:r>
              <a:rPr lang="en-US" dirty="0">
                <a:solidFill>
                  <a:schemeClr val="bg1"/>
                </a:solidFill>
              </a:rPr>
              <a:t>Through effective data cleaning, preprocessing, and data modeling, the dataset was prepared for accurate analysis. </a:t>
            </a:r>
          </a:p>
          <a:p>
            <a:r>
              <a:rPr lang="en-US" dirty="0">
                <a:solidFill>
                  <a:schemeClr val="bg1"/>
                </a:solidFill>
              </a:rPr>
              <a:t>Interactive dashboards and visualizations helped in understanding sales trends, top-performing products, category-wise performance, and regional sales distribution.</a:t>
            </a:r>
          </a:p>
          <a:p>
            <a:r>
              <a:rPr lang="en-US" dirty="0">
                <a:solidFill>
                  <a:schemeClr val="bg1"/>
                </a:solidFill>
              </a:rPr>
              <a:t> The use of DAX measures enabled the calculation of key metrics and KPIs, supporting data-driven decision-making.</a:t>
            </a:r>
          </a:p>
          <a:p>
            <a:r>
              <a:rPr lang="en-US" dirty="0">
                <a:solidFill>
                  <a:schemeClr val="bg1"/>
                </a:solidFill>
              </a:rPr>
              <a:t> Overall, this project highlights the importance of business intelligence tools in improving sales analysis and enhancing strategic planning in the e-commerce sector.</a:t>
            </a:r>
            <a:endParaRPr lang="en-IN" dirty="0">
              <a:solidFill>
                <a:schemeClr val="bg1"/>
              </a:solidFill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52268863"/>
      </p:ext>
    </p:extLst>
  </p:cSld>
  <p:clrMapOvr>
    <a:masterClrMapping/>
  </p:clrMapOvr>
  <p:transition spd="slow">
    <p:push dir="u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122" name="Picture 2" descr="Guess kiya kya? #KuchKhaasKamao #ThankYouKamao #Flipkart #SellOnFlipkart  #FlipkartSellerHub #FlipkartSellers #OnlineSelling #OnlineBusiness  #Entrepreneur #Entrepreneurship #Payment #SellerHub #HowToSell #sell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12192000" cy="69838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3767298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crush"/>
      </p:transition>
    </mc:Choice>
    <mc:Fallback xmlns=""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Circuit</Template>
  <TotalTime>1902</TotalTime>
  <Words>772</Words>
  <Application>Microsoft Office PowerPoint</Application>
  <PresentationFormat>Widescreen</PresentationFormat>
  <Paragraphs>93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Arial</vt:lpstr>
      <vt:lpstr>Bodoni Bk BT</vt:lpstr>
      <vt:lpstr>Constantia</vt:lpstr>
      <vt:lpstr>Times New Roman</vt:lpstr>
      <vt:lpstr>Trebuchet MS</vt:lpstr>
      <vt:lpstr>Tw Cen MT</vt:lpstr>
      <vt:lpstr>Circuit</vt:lpstr>
      <vt:lpstr>FLIPKART SALES ANALYSIS </vt:lpstr>
      <vt:lpstr>INTRODUCTION</vt:lpstr>
      <vt:lpstr>PROBLEM STATEMENT</vt:lpstr>
      <vt:lpstr>Business problem</vt:lpstr>
      <vt:lpstr>Data overview</vt:lpstr>
      <vt:lpstr>Technology used</vt:lpstr>
      <vt:lpstr>Technology used</vt:lpstr>
      <vt:lpstr>Data  preprocessing</vt:lpstr>
      <vt:lpstr>Data cleaning</vt:lpstr>
      <vt:lpstr>Key metrics and kPI’ s</vt:lpstr>
      <vt:lpstr>Data modeling overview</vt:lpstr>
      <vt:lpstr>Dax measures</vt:lpstr>
      <vt:lpstr>Power bi dash board overview</vt:lpstr>
      <vt:lpstr>Power bi dash board overview</vt:lpstr>
      <vt:lpstr> revenue VARIATION BY CATEGORY</vt:lpstr>
      <vt:lpstr>Overall revenue for product brand</vt:lpstr>
      <vt:lpstr>seller_city contributes the most to total sales </vt:lpstr>
      <vt:lpstr>conclusion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FLIPKART SALES ANALYSIS</dc:title>
  <dc:creator>Admin</dc:creator>
  <cp:lastModifiedBy>Tamilbharathi R</cp:lastModifiedBy>
  <cp:revision>57</cp:revision>
  <dcterms:created xsi:type="dcterms:W3CDTF">2026-02-28T13:27:30Z</dcterms:created>
  <dcterms:modified xsi:type="dcterms:W3CDTF">2026-03-07T09:14:35Z</dcterms:modified>
</cp:coreProperties>
</file>